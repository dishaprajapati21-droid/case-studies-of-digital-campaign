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805EEE-F5F4-4069-9A1F-60203CF2DF86}">
  <a:tblStyle styleId="{3E805EEE-F5F4-4069-9A1F-60203CF2DF8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4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Flipkart – Big Billion Days 2025 Campaign 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festive season sales, drive customer engagement, and strengthen Flipkart's leadership in Indian e-commerce.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📊 Key Results (Real Numbers) </a:t>
            </a:r>
            <a:endParaRPr/>
          </a:p>
        </p:txBody>
      </p:sp>
      <p:graphicFrame>
        <p:nvGraphicFramePr>
          <p:cNvPr id="92" name="Google Shape;92;p14"/>
          <p:cNvGraphicFramePr/>
          <p:nvPr/>
        </p:nvGraphicFramePr>
        <p:xfrm>
          <a:off x="1218025" y="157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{3E805EEE-F5F4-4069-9A1F-60203CF2DF86}</a:tableStyleId>
              </a:tblPr>
              <a:tblGrid>
                <a:gridCol w="3438300"/>
                <a:gridCol w="3267150"/>
              </a:tblGrid>
              <a:tr h="342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Metric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Website Visits (First 48 Hours)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606 Million+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 Z Visits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201 Million+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Growth in Unique Visitors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28% YoY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8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Seasonal Employment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220,000 (2.2 lakh) jobs created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5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Additional Delivery Infrastructure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650+ festive delivery hubs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📱 Marketing Channels Used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003125" y="1605300"/>
            <a:ext cx="7256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Instagram Reels &amp; YouTube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Influencer Marketing (1,550+ creators)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WhatsApp AI Campaign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Connected TV &amp; Digital Ads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Celebrity Campaign – </a:t>
            </a:r>
            <a:r>
              <a:rPr b="1" lang="en" sz="2000"/>
              <a:t>"Yahaan Kuch Bhi Ho Sakta Hai"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16"/>
          <p:cNvGrpSpPr/>
          <p:nvPr/>
        </p:nvGrpSpPr>
        <p:grpSpPr>
          <a:xfrm>
            <a:off x="4939500" y="1219611"/>
            <a:ext cx="3837000" cy="2704200"/>
            <a:chOff x="4939500" y="1219611"/>
            <a:chExt cx="3837000" cy="2704200"/>
          </a:xfrm>
        </p:grpSpPr>
        <p:cxnSp>
          <p:nvCxnSpPr>
            <p:cNvPr id="104" name="Google Shape;104;p16"/>
            <p:cNvCxnSpPr/>
            <p:nvPr/>
          </p:nvCxnSpPr>
          <p:spPr>
            <a:xfrm>
              <a:off x="4939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6"/>
            <p:cNvCxnSpPr/>
            <p:nvPr/>
          </p:nvCxnSpPr>
          <p:spPr>
            <a:xfrm>
              <a:off x="5365833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6"/>
            <p:cNvCxnSpPr/>
            <p:nvPr/>
          </p:nvCxnSpPr>
          <p:spPr>
            <a:xfrm>
              <a:off x="5792167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16"/>
            <p:cNvCxnSpPr/>
            <p:nvPr/>
          </p:nvCxnSpPr>
          <p:spPr>
            <a:xfrm>
              <a:off x="6218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16"/>
            <p:cNvCxnSpPr/>
            <p:nvPr/>
          </p:nvCxnSpPr>
          <p:spPr>
            <a:xfrm>
              <a:off x="6644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16"/>
            <p:cNvCxnSpPr/>
            <p:nvPr/>
          </p:nvCxnSpPr>
          <p:spPr>
            <a:xfrm>
              <a:off x="7071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16"/>
            <p:cNvCxnSpPr/>
            <p:nvPr/>
          </p:nvCxnSpPr>
          <p:spPr>
            <a:xfrm>
              <a:off x="7497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16"/>
            <p:cNvCxnSpPr/>
            <p:nvPr/>
          </p:nvCxnSpPr>
          <p:spPr>
            <a:xfrm>
              <a:off x="7923834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16"/>
            <p:cNvCxnSpPr/>
            <p:nvPr/>
          </p:nvCxnSpPr>
          <p:spPr>
            <a:xfrm>
              <a:off x="8350166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16"/>
            <p:cNvCxnSpPr/>
            <p:nvPr/>
          </p:nvCxnSpPr>
          <p:spPr>
            <a:xfrm>
              <a:off x="8776500" y="1219611"/>
              <a:ext cx="0" cy="2704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14" name="Google Shape;114;p16"/>
          <p:cNvSpPr/>
          <p:nvPr/>
        </p:nvSpPr>
        <p:spPr>
          <a:xfrm>
            <a:off x="7014920" y="2133119"/>
            <a:ext cx="286500" cy="2865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265500" y="56862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Why the Campaign Was Successful </a:t>
            </a:r>
            <a:endParaRPr sz="3300"/>
          </a:p>
        </p:txBody>
      </p:sp>
      <p:sp>
        <p:nvSpPr>
          <p:cNvPr id="116" name="Google Shape;116;p16"/>
          <p:cNvSpPr txBox="1"/>
          <p:nvPr>
            <p:ph idx="1" type="subTitle"/>
          </p:nvPr>
        </p:nvSpPr>
        <p:spPr>
          <a:xfrm>
            <a:off x="265500" y="2431563"/>
            <a:ext cx="4045200" cy="744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Massive influencer campaign with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1,550+ creators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WhatsApp shopping experience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Strong celebrity-led storytelling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delivery network across India</a:t>
            </a:r>
            <a:endParaRPr sz="2900"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4939534" y="2017046"/>
            <a:ext cx="3825543" cy="1573620"/>
            <a:chOff x="1000000" y="2393988"/>
            <a:chExt cx="4144235" cy="1704713"/>
          </a:xfrm>
        </p:grpSpPr>
        <p:sp>
          <p:nvSpPr>
            <p:cNvPr id="118" name="Google Shape;118;p16"/>
            <p:cNvSpPr/>
            <p:nvPr/>
          </p:nvSpPr>
          <p:spPr>
            <a:xfrm>
              <a:off x="1000000" y="2440003"/>
              <a:ext cx="4144235" cy="1631269"/>
            </a:xfrm>
            <a:custGeom>
              <a:rect b="b" l="l" r="r" t="t"/>
              <a:pathLst>
                <a:path extrusionOk="0" h="90088" w="165422">
                  <a:moveTo>
                    <a:pt x="0" y="65550"/>
                  </a:moveTo>
                  <a:cubicBezTo>
                    <a:pt x="3559" y="56002"/>
                    <a:pt x="14632" y="11595"/>
                    <a:pt x="21355" y="8262"/>
                  </a:cubicBezTo>
                  <a:cubicBezTo>
                    <a:pt x="28078" y="4929"/>
                    <a:pt x="34067" y="46906"/>
                    <a:pt x="40338" y="45550"/>
                  </a:cubicBezTo>
                  <a:cubicBezTo>
                    <a:pt x="46609" y="44194"/>
                    <a:pt x="52711" y="2161"/>
                    <a:pt x="58982" y="127"/>
                  </a:cubicBezTo>
                  <a:cubicBezTo>
                    <a:pt x="65253" y="-1907"/>
                    <a:pt x="71807" y="30974"/>
                    <a:pt x="77965" y="33347"/>
                  </a:cubicBezTo>
                  <a:cubicBezTo>
                    <a:pt x="84123" y="35720"/>
                    <a:pt x="90055" y="6285"/>
                    <a:pt x="95931" y="14364"/>
                  </a:cubicBezTo>
                  <a:cubicBezTo>
                    <a:pt x="101807" y="22443"/>
                    <a:pt x="107626" y="77414"/>
                    <a:pt x="113219" y="81821"/>
                  </a:cubicBezTo>
                  <a:cubicBezTo>
                    <a:pt x="118812" y="86228"/>
                    <a:pt x="123671" y="39448"/>
                    <a:pt x="129490" y="40804"/>
                  </a:cubicBezTo>
                  <a:cubicBezTo>
                    <a:pt x="135309" y="42160"/>
                    <a:pt x="142145" y="92047"/>
                    <a:pt x="148134" y="89957"/>
                  </a:cubicBezTo>
                  <a:cubicBezTo>
                    <a:pt x="154123" y="87867"/>
                    <a:pt x="162541" y="38545"/>
                    <a:pt x="165422" y="28262"/>
                  </a:cubicBezTo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19" name="Google Shape;119;p16"/>
            <p:cNvSpPr/>
            <p:nvPr/>
          </p:nvSpPr>
          <p:spPr>
            <a:xfrm>
              <a:off x="4658400" y="40141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4195525" y="314735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3800700" y="3868900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3358650" y="26378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2909400" y="2993013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2437450" y="2393988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974575" y="32133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500000" y="2553225"/>
              <a:ext cx="84600" cy="846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6"/>
          <p:cNvSpPr/>
          <p:nvPr/>
        </p:nvSpPr>
        <p:spPr>
          <a:xfrm>
            <a:off x="6847150" y="1577745"/>
            <a:ext cx="1179600" cy="343800"/>
          </a:xfrm>
          <a:prstGeom prst="wedgeRoundRectCallout">
            <a:avLst>
              <a:gd fmla="val -21432" name="adj1"/>
              <a:gd fmla="val 84969" name="adj2"/>
              <a:gd fmla="val 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4939557" y="1778136"/>
            <a:ext cx="3836911" cy="1503799"/>
            <a:chOff x="1000025" y="2059300"/>
            <a:chExt cx="4156550" cy="1629075"/>
          </a:xfrm>
        </p:grpSpPr>
        <p:sp>
          <p:nvSpPr>
            <p:cNvPr id="129" name="Google Shape;129;p16"/>
            <p:cNvSpPr/>
            <p:nvPr/>
          </p:nvSpPr>
          <p:spPr>
            <a:xfrm>
              <a:off x="1000025" y="2083952"/>
              <a:ext cx="4156550" cy="1576975"/>
            </a:xfrm>
            <a:custGeom>
              <a:rect b="b" l="l" r="r" t="t"/>
              <a:pathLst>
                <a:path extrusionOk="0" h="63079" w="166262">
                  <a:moveTo>
                    <a:pt x="0" y="34952"/>
                  </a:moveTo>
                  <a:cubicBezTo>
                    <a:pt x="3623" y="29133"/>
                    <a:pt x="14946" y="1167"/>
                    <a:pt x="21740" y="37"/>
                  </a:cubicBezTo>
                  <a:cubicBezTo>
                    <a:pt x="28534" y="-1093"/>
                    <a:pt x="34478" y="24048"/>
                    <a:pt x="40762" y="28172"/>
                  </a:cubicBezTo>
                  <a:cubicBezTo>
                    <a:pt x="47046" y="32296"/>
                    <a:pt x="53256" y="18986"/>
                    <a:pt x="59446" y="24782"/>
                  </a:cubicBezTo>
                  <a:cubicBezTo>
                    <a:pt x="65636" y="30578"/>
                    <a:pt x="71730" y="60803"/>
                    <a:pt x="77901" y="62950"/>
                  </a:cubicBezTo>
                  <a:cubicBezTo>
                    <a:pt x="84072" y="65097"/>
                    <a:pt x="90490" y="39675"/>
                    <a:pt x="96472" y="37664"/>
                  </a:cubicBezTo>
                  <a:cubicBezTo>
                    <a:pt x="102455" y="35653"/>
                    <a:pt x="108078" y="54726"/>
                    <a:pt x="113796" y="50884"/>
                  </a:cubicBezTo>
                  <a:cubicBezTo>
                    <a:pt x="119514" y="47042"/>
                    <a:pt x="125063" y="18059"/>
                    <a:pt x="130781" y="14613"/>
                  </a:cubicBezTo>
                  <a:cubicBezTo>
                    <a:pt x="136499" y="11167"/>
                    <a:pt x="142192" y="30515"/>
                    <a:pt x="148105" y="30206"/>
                  </a:cubicBezTo>
                  <a:cubicBezTo>
                    <a:pt x="154019" y="29897"/>
                    <a:pt x="163236" y="15665"/>
                    <a:pt x="166262" y="12757"/>
                  </a:cubicBezTo>
                </a:path>
              </a:pathLst>
            </a:cu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oval"/>
              <a:tailEnd len="med" w="med" type="oval"/>
            </a:ln>
          </p:spPr>
        </p:sp>
        <p:sp>
          <p:nvSpPr>
            <p:cNvPr id="130" name="Google Shape;130;p16"/>
            <p:cNvSpPr/>
            <p:nvPr/>
          </p:nvSpPr>
          <p:spPr>
            <a:xfrm>
              <a:off x="1500000" y="205930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974575" y="27372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2437450" y="26526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2909400" y="36037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3358650" y="29930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3780700" y="331522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4216350" y="2412175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4658400" y="2802450"/>
              <a:ext cx="84600" cy="84600"/>
            </a:xfrm>
            <a:prstGeom prst="ellipse">
              <a:avLst/>
            </a:pr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6"/>
          <p:cNvSpPr txBox="1"/>
          <p:nvPr>
            <p:ph idx="2" type="body"/>
          </p:nvPr>
        </p:nvSpPr>
        <p:spPr>
          <a:xfrm>
            <a:off x="6847150" y="1606395"/>
            <a:ext cx="1179600" cy="28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max growth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